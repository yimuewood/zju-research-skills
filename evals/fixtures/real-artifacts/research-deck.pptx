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7" r:id="rId3"/>
    <p:sldId id="258" r:id="rId4"/>
  </p:sldIdLst>
  <p:sldSz cx="12192000" cy="6858000" type="screen16x9"/>
  <p:notesSz cx="6858000" cy="9144000"/>
  <p:defaultTextStyle>
    <a:defPPr>
      <a:defRPr lang="zh-CN"/>
    </a:def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Notes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hf hdr="0" ftr="0" dt="0" sldNum="0"/>
  <p:notesStyle>
    <a:lvl1pPr marL="0">
      <a:defRPr sz="1200"/>
    </a:lvl1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685800" y="685800"/>
            <a:ext cx="5486400" cy="7772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marL="0" indent="0">
              <a:buNone/>
            </a:pPr>
            <a:r>
              <a:rPr lang="zh-CN" altLang="en-US" sz="1200" b="0">
                <a:solidFill>
                  <a:srgbClr val="202020"/>
                </a:solidFill>
                <a:latin typeface="Arial"/>
                <a:ea typeface="Microsoft YaHei"/>
              </a:rPr>
              <a:t>Explain the independent-unit design before showing the omnibus result.</a:t>
            </a:r>
            <a:endParaRPr lang="zh-CN" sz="1200"/>
          </a:p>
          <a:p>
            <a:pPr marL="0" indent="0">
              <a:buNone/>
            </a:pPr>
            <a:r>
              <a:rPr lang="zh-CN" altLang="en-US" sz="1200" b="0">
                <a:solidFill>
                  <a:srgbClr val="202020"/>
                </a:solidFill>
                <a:latin typeface="Arial"/>
                <a:ea typeface="Microsoft YaHei"/>
              </a:rPr>
              <a:t>[Sources]</a:t>
            </a:r>
            <a:endParaRPr lang="zh-CN" sz="1200"/>
          </a:p>
          <a:p>
            <a:pPr marL="342900" indent="-171450">
              <a:buChar char="•"/>
            </a:pPr>
            <a:r>
              <a:rPr lang="zh-CN" altLang="en-US" sz="1200" b="0">
                <a:solidFill>
                  <a:srgbClr val="202020"/>
                </a:solidFill>
                <a:latin typeface="Arial"/>
                <a:ea typeface="Microsoft YaHei"/>
              </a:rPr>
              <a:t>- protocol://STUDY-REAL-1/endpoint-v1</a:t>
            </a:r>
            <a:endParaRPr lang="zh-CN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685800" y="685800"/>
            <a:ext cx="5486400" cy="7772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marL="0" indent="0">
              <a:buNone/>
            </a:pPr>
            <a:r>
              <a:rPr lang="zh-CN" altLang="en-US" sz="1200" b="0">
                <a:solidFill>
                  <a:srgbClr val="202020"/>
                </a:solidFill>
                <a:latin typeface="Arial"/>
                <a:ea typeface="Microsoft YaHei"/>
              </a:rPr>
              <a:t>State that the omnibus result does not identify a pairwise contrast and cite RES-ANOVA.</a:t>
            </a:r>
            <a:endParaRPr lang="zh-CN" sz="1200"/>
          </a:p>
          <a:p>
            <a:pPr marL="0" indent="0">
              <a:buNone/>
            </a:pPr>
            <a:r>
              <a:rPr lang="zh-CN" altLang="en-US" sz="1200" b="0">
                <a:solidFill>
                  <a:srgbClr val="202020"/>
                </a:solidFill>
                <a:latin typeface="Arial"/>
                <a:ea typeface="Microsoft YaHei"/>
              </a:rPr>
              <a:t>[Sources]</a:t>
            </a:r>
            <a:endParaRPr lang="zh-CN" sz="1200"/>
          </a:p>
          <a:p>
            <a:pPr marL="342900" indent="-171450">
              <a:buChar char="•"/>
            </a:pPr>
            <a:r>
              <a:rPr lang="zh-CN" altLang="en-US" sz="1200" b="0">
                <a:solidFill>
                  <a:srgbClr val="202020"/>
                </a:solidFill>
                <a:latin typeface="Arial"/>
                <a:ea typeface="Microsoft YaHei"/>
              </a:rPr>
              <a:t>- analysis-run.json#/analyses/0</a:t>
            </a:r>
            <a:endParaRPr lang="zh-CN" sz="1200"/>
          </a:p>
          <a:p>
            <a:pPr marL="342900" indent="-171450">
              <a:buChar char="•"/>
            </a:pPr>
            <a:r>
              <a:rPr lang="zh-CN" altLang="en-US" sz="1200" b="0">
                <a:solidFill>
                  <a:srgbClr val="202020"/>
                </a:solidFill>
                <a:latin typeface="Arial"/>
                <a:ea typeface="Microsoft YaHei"/>
              </a:rPr>
              <a:t>- protocol://STUDY-REAL-1/endpoint-v1</a:t>
            </a:r>
            <a:endParaRPr lang="zh-CN" sz="1200"/>
          </a:p>
          <a:p>
            <a:pPr marL="0" indent="0">
              <a:buNone/>
            </a:pPr>
            <a:r>
              <a:rPr lang="zh-CN" altLang="en-US" sz="1200" b="0">
                <a:solidFill>
                  <a:srgbClr val="202020"/>
                </a:solidFill>
                <a:latin typeface="Arial"/>
                <a:ea typeface="Microsoft YaHei"/>
              </a:rPr>
              <a:t>[Results]</a:t>
            </a:r>
            <a:endParaRPr lang="zh-CN" sz="1200"/>
          </a:p>
          <a:p>
            <a:pPr marL="342900" indent="-171450">
              <a:buChar char="•"/>
            </a:pPr>
            <a:r>
              <a:rPr lang="zh-CN" altLang="en-US" sz="1200" b="0">
                <a:solidFill>
                  <a:srgbClr val="202020"/>
                </a:solidFill>
                <a:latin typeface="Arial"/>
                <a:ea typeface="Microsoft YaHei"/>
              </a:rPr>
              <a:t>- RES-ANOVA:estimate = 0.896</a:t>
            </a:r>
            <a:endParaRPr lang="zh-CN" sz="1200"/>
          </a:p>
          <a:p>
            <a:pPr marL="342900" indent="-171450">
              <a:buChar char="•"/>
            </a:pPr>
            <a:r>
              <a:rPr lang="zh-CN" altLang="en-US" sz="1200" b="0">
                <a:solidFill>
                  <a:srgbClr val="202020"/>
                </a:solidFill>
                <a:latin typeface="Arial"/>
                <a:ea typeface="Microsoft YaHei"/>
              </a:rPr>
              <a:t>- RES-ANOVA:p_value = 0.0000</a:t>
            </a:r>
            <a:endParaRPr lang="zh-CN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ZJU Research 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>
      <a:lvl1pPr marL="0" algn="l">
        <a:defRPr sz="2400"/>
      </a:lvl1pPr>
      <a:lvl2pPr marL="342900" algn="l">
        <a:defRPr sz="2000"/>
      </a:lvl2pPr>
    </p:titleStyle>
    <p:bodyStyle>
      <a:lvl1pPr marL="0" algn="l">
        <a:defRPr sz="2400"/>
      </a:lvl1pPr>
      <a:lvl2pPr marL="342900" algn="l">
        <a:defRPr sz="2000"/>
      </a:lvl2pPr>
    </p:bodyStyle>
    <p:otherStyle>
      <a:lvl1pPr marL="0" algn="l">
        <a:defRPr sz="2400"/>
      </a:lvl1pPr>
      <a:lvl2pPr marL="342900" algn="l">
        <a:defRPr sz="2000"/>
      </a:lvl2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685800" y="365760"/>
            <a:ext cx="10820400" cy="914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marL="0" indent="0">
              <a:buNone/>
            </a:pPr>
            <a:r>
              <a:rPr lang="zh-CN" altLang="en-US" sz="3600" b="1">
                <a:solidFill>
                  <a:srgbClr val="17365D"/>
                </a:solidFill>
                <a:latin typeface="Arial"/>
                <a:ea typeface="Microsoft YaHei"/>
              </a:rPr>
              <a:t>Question and design</a:t>
            </a:r>
            <a:endParaRPr lang="zh-CN" sz="3600"/>
          </a:p>
        </p:txBody>
      </p:sp>
      <p:sp>
        <p:nvSpPr>
          <p:cNvPr id="3" name="Evidence-led content"/>
          <p:cNvSpPr txBox="1"/>
          <p:nvPr/>
        </p:nvSpPr>
        <p:spPr>
          <a:xfrm>
            <a:off x="914400" y="1463040"/>
            <a:ext cx="10363200" cy="36576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/>
          <a:lstStyle/>
          <a:p>
            <a:pPr marL="0" indent="0">
              <a:buNone/>
            </a:pPr>
            <a:r>
              <a:rPr lang="zh-CN" altLang="en-US" sz="2200" b="1">
                <a:solidFill>
                  <a:srgbClr val="202020"/>
                </a:solidFill>
                <a:latin typeface="Arial"/>
                <a:ea typeface="Microsoft YaHei"/>
              </a:rPr>
              <a:t>Three prespecified groups were compared at one endpoint.</a:t>
            </a:r>
            <a:endParaRPr lang="zh-CN" sz="2200"/>
          </a:p>
          <a:p>
            <a:pPr marL="342900" indent="-171450">
              <a:buChar char="•"/>
            </a:pPr>
            <a:r>
              <a:rPr lang="zh-CN" altLang="en-US" sz="2200" b="0">
                <a:solidFill>
                  <a:srgbClr val="202020"/>
                </a:solidFill>
                <a:latin typeface="Arial"/>
                <a:ea typeface="Microsoft YaHei"/>
              </a:rPr>
              <a:t>Experimental unit: independent preparation</a:t>
            </a:r>
            <a:endParaRPr lang="zh-CN" sz="2200"/>
          </a:p>
          <a:p>
            <a:pPr marL="342900" indent="-171450">
              <a:buChar char="•"/>
            </a:pPr>
            <a:r>
              <a:rPr lang="zh-CN" altLang="en-US" sz="2200" b="0">
                <a:solidFill>
                  <a:srgbClr val="202020"/>
                </a:solidFill>
                <a:latin typeface="Arial"/>
                <a:ea typeface="Microsoft YaHei"/>
              </a:rPr>
              <a:t>Analysis: fixed one-factor ANOVA</a:t>
            </a:r>
            <a:endParaRPr lang="zh-CN" sz="2200"/>
          </a:p>
        </p:txBody>
      </p:sp>
      <p:sp>
        <p:nvSpPr>
          <p:cNvPr id="4" name="Source anchors"/>
          <p:cNvSpPr txBox="1"/>
          <p:nvPr/>
        </p:nvSpPr>
        <p:spPr>
          <a:xfrm>
            <a:off x="685800" y="6035040"/>
            <a:ext cx="108204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zh-CN" altLang="en-US" sz="1200" b="0">
                <a:solidFill>
                  <a:srgbClr val="5B6573"/>
                </a:solidFill>
                <a:latin typeface="Arial"/>
                <a:ea typeface="Microsoft YaHei"/>
              </a:rPr>
              <a:t>Sources: protocol://STUDY-REAL-1/endpoint-v1</a:t>
            </a:r>
            <a:endParaRPr lang="zh-CN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685800" y="365760"/>
            <a:ext cx="10820400" cy="914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marL="0" indent="0">
              <a:buNone/>
            </a:pPr>
            <a:r>
              <a:rPr lang="zh-CN" altLang="en-US" sz="3600" b="1">
                <a:solidFill>
                  <a:srgbClr val="17365D"/>
                </a:solidFill>
                <a:latin typeface="Arial"/>
                <a:ea typeface="Microsoft YaHei"/>
              </a:rPr>
              <a:t>Observed group effect</a:t>
            </a:r>
            <a:endParaRPr lang="zh-CN" sz="3600"/>
          </a:p>
        </p:txBody>
      </p:sp>
      <p:sp>
        <p:nvSpPr>
          <p:cNvPr id="3" name="Evidence-led content"/>
          <p:cNvSpPr txBox="1"/>
          <p:nvPr/>
        </p:nvSpPr>
        <p:spPr>
          <a:xfrm>
            <a:off x="914400" y="1463040"/>
            <a:ext cx="10363200" cy="36576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/>
          <a:lstStyle/>
          <a:p>
            <a:pPr marL="0" indent="0">
              <a:buNone/>
            </a:pPr>
            <a:r>
              <a:rPr lang="zh-CN" altLang="en-US" sz="2200" b="1">
                <a:solidFill>
                  <a:srgbClr val="202020"/>
                </a:solidFill>
                <a:latin typeface="Arial"/>
                <a:ea typeface="Microsoft YaHei"/>
              </a:rPr>
              <a:t>The observed eta squared was 0.896.</a:t>
            </a:r>
            <a:endParaRPr lang="zh-CN" sz="2200"/>
          </a:p>
          <a:p>
            <a:pPr marL="342900" indent="-171450">
              <a:buChar char="•"/>
            </a:pPr>
            <a:r>
              <a:rPr lang="zh-CN" altLang="en-US" sz="2200" b="0">
                <a:solidFill>
                  <a:srgbClr val="202020"/>
                </a:solidFill>
                <a:latin typeface="Arial"/>
                <a:ea typeface="Microsoft YaHei"/>
              </a:rPr>
              <a:t>Exact P value: 0.0000</a:t>
            </a:r>
            <a:endParaRPr lang="zh-CN" sz="2200"/>
          </a:p>
          <a:p>
            <a:pPr marL="342900" indent="-171450">
              <a:buChar char="•"/>
            </a:pPr>
            <a:r>
              <a:rPr lang="zh-CN" altLang="en-US" sz="2200" b="0">
                <a:solidFill>
                  <a:srgbClr val="202020"/>
                </a:solidFill>
                <a:latin typeface="Arial"/>
                <a:ea typeface="Microsoft YaHei"/>
              </a:rPr>
              <a:t>Interpretation remains non-directional at the omnibus stage</a:t>
            </a:r>
            <a:endParaRPr lang="zh-CN" sz="2200"/>
          </a:p>
        </p:txBody>
      </p:sp>
      <p:sp>
        <p:nvSpPr>
          <p:cNvPr id="4" name="Source anchors"/>
          <p:cNvSpPr txBox="1"/>
          <p:nvPr/>
        </p:nvSpPr>
        <p:spPr>
          <a:xfrm>
            <a:off x="685800" y="6035040"/>
            <a:ext cx="108204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zh-CN" altLang="en-US" sz="1200" b="0">
                <a:solidFill>
                  <a:srgbClr val="5B6573"/>
                </a:solidFill>
                <a:latin typeface="Arial"/>
                <a:ea typeface="Microsoft YaHei"/>
              </a:rPr>
              <a:t>Sources: analysis-run.json#/analyses/0 | protocol://STUDY-REAL-1/endpoint-v1</a:t>
            </a:r>
            <a:endParaRPr lang="zh-CN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ZJU Research">
  <a:themeElements>
    <a:clrScheme name="ZJU Research">
      <a:dk1>
        <a:srgbClr val="202020"/>
      </a:dk1>
      <a:lt1>
        <a:srgbClr val="FFFFFF"/>
      </a:lt1>
      <a:dk2>
        <a:srgbClr val="17365D"/>
      </a:dk2>
      <a:lt2>
        <a:srgbClr val="F2F5F8"/>
      </a:lt2>
      <a:accent1>
        <a:srgbClr val="17365D"/>
      </a:accent1>
      <a:accent2>
        <a:srgbClr val="0072B2"/>
      </a:accent2>
      <a:accent3>
        <a:srgbClr val="009E73"/>
      </a:accent3>
      <a:accent4>
        <a:srgbClr val="D55E00"/>
      </a:accent4>
      <a:accent5>
        <a:srgbClr val="CC79A7"/>
      </a:accent5>
      <a:accent6>
        <a:srgbClr val="E69F00"/>
      </a:accent6>
      <a:hlink>
        <a:srgbClr val="0563C1"/>
      </a:hlink>
      <a:folHlink>
        <a:srgbClr val="954F72"/>
      </a:folHlink>
    </a:clrScheme>
    <a:fontScheme name="ZJU Research">
      <a:majorFont>
        <a:latin typeface="Arial"/>
        <a:ea typeface="Microsoft YaHei"/>
        <a:cs typeface="Arial"/>
      </a:majorFont>
      <a:minorFont>
        <a:latin typeface="Arial"/>
        <a:ea typeface="Microsoft YaHei"/>
        <a:cs typeface="Arial"/>
      </a:minorFont>
    </a:fontScheme>
    <a:fmtScheme name="ZJU Research">
      <a:fillStyleLst>
        <a:solidFill>
          <a:schemeClr val="phClr"/>
        </a:solidFill>
      </a:fillStyleLst>
      <a:lnStyleLst>
        <a:ln w="1270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zju-research-skills</Application>
  <PresentationFormat>Widescreen</PresentationFormat>
  <Slides>2</Slides>
  <Notes>2</Notes>
  <HiddenSlides>0</HiddenSlides>
  <MMClips>0</MMClips>
  <ScaleCrop>false</ScaleCrop>
  <Company>Zhejiang University research workflow</Company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Three-group endpoint study</dc:title>
  <dc:subject>source-grounded research presentation</dc:subject>
  <dc:creator>zju-research-skills</dc:creator>
  <cp:lastModifiedBy>zju-research-skills</cp:lastModifiedBy>
  <dcterms:created xsi:type="dcterms:W3CDTF">2026-08-15T00:00:00Z</dcterms:created>
  <dcterms:modified xsi:type="dcterms:W3CDTF">2026-08-15T00:00:00Z</dcterms:modified>
</cp:coreProperties>
</file>